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5" r:id="rId11"/>
    <p:sldId id="266" r:id="rId12"/>
  </p:sldIdLst>
  <p:sldSz cx="18288000" cy="10287000"/>
  <p:notesSz cx="6858000" cy="9144000"/>
  <p:embeddedFontLst>
    <p:embeddedFont>
      <p:font typeface="Clear Sans Regular Bold" panose="020B0604020202020204" charset="0"/>
      <p:regular r:id="rId14"/>
    </p:embeddedFont>
    <p:embeddedFont>
      <p:font typeface="DM Sans" pitchFamily="2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00FF"/>
    <a:srgbClr val="883C84"/>
    <a:srgbClr val="461B49"/>
    <a:srgbClr val="963488"/>
    <a:srgbClr val="2831A2"/>
    <a:srgbClr val="2086AA"/>
    <a:srgbClr val="1994B1"/>
    <a:srgbClr val="00B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279" autoAdjust="0"/>
    <p:restoredTop sz="73146" autoAdjust="0"/>
  </p:normalViewPr>
  <p:slideViewPr>
    <p:cSldViewPr>
      <p:cViewPr varScale="1">
        <p:scale>
          <a:sx n="31" d="100"/>
          <a:sy n="31" d="100"/>
        </p:scale>
        <p:origin x="85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yobo\Downloads\Data%20se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yobo\Downloads\Data%20se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Unique category total score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Reactions!$G$1</c:f>
              <c:strCache>
                <c:ptCount val="1"/>
                <c:pt idx="0">
                  <c:v>agreggate total score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Reactions!$F$2:$F$17</c:f>
              <c:strCache>
                <c:ptCount val="16"/>
                <c:pt idx="0">
                  <c:v>Studying</c:v>
                </c:pt>
                <c:pt idx="1">
                  <c:v>healthy eating</c:v>
                </c:pt>
                <c:pt idx="2">
                  <c:v>technology</c:v>
                </c:pt>
                <c:pt idx="3">
                  <c:v>food</c:v>
                </c:pt>
                <c:pt idx="4">
                  <c:v>cooking</c:v>
                </c:pt>
                <c:pt idx="5">
                  <c:v>dogs</c:v>
                </c:pt>
                <c:pt idx="6">
                  <c:v>soccer</c:v>
                </c:pt>
                <c:pt idx="7">
                  <c:v>public speaking</c:v>
                </c:pt>
                <c:pt idx="8">
                  <c:v>science</c:v>
                </c:pt>
                <c:pt idx="9">
                  <c:v>tennis</c:v>
                </c:pt>
                <c:pt idx="10">
                  <c:v>travel</c:v>
                </c:pt>
                <c:pt idx="11">
                  <c:v>fitness</c:v>
                </c:pt>
                <c:pt idx="12">
                  <c:v>education</c:v>
                </c:pt>
                <c:pt idx="13">
                  <c:v>veganism</c:v>
                </c:pt>
                <c:pt idx="14">
                  <c:v>Animals</c:v>
                </c:pt>
                <c:pt idx="15">
                  <c:v>culture</c:v>
                </c:pt>
              </c:strCache>
            </c:strRef>
          </c:cat>
          <c:val>
            <c:numRef>
              <c:f>Reactions!$G$2:$G$17</c:f>
              <c:numCache>
                <c:formatCode>General</c:formatCode>
                <c:ptCount val="16"/>
                <c:pt idx="0">
                  <c:v>54269</c:v>
                </c:pt>
                <c:pt idx="1">
                  <c:v>69339</c:v>
                </c:pt>
                <c:pt idx="2">
                  <c:v>68738</c:v>
                </c:pt>
                <c:pt idx="3">
                  <c:v>66676</c:v>
                </c:pt>
                <c:pt idx="4">
                  <c:v>64756</c:v>
                </c:pt>
                <c:pt idx="5">
                  <c:v>52511</c:v>
                </c:pt>
                <c:pt idx="6">
                  <c:v>57783</c:v>
                </c:pt>
                <c:pt idx="7">
                  <c:v>49264</c:v>
                </c:pt>
                <c:pt idx="8">
                  <c:v>71168</c:v>
                </c:pt>
                <c:pt idx="9">
                  <c:v>50339</c:v>
                </c:pt>
                <c:pt idx="10">
                  <c:v>64880</c:v>
                </c:pt>
                <c:pt idx="11">
                  <c:v>55323</c:v>
                </c:pt>
                <c:pt idx="12">
                  <c:v>57436</c:v>
                </c:pt>
                <c:pt idx="13">
                  <c:v>49619</c:v>
                </c:pt>
                <c:pt idx="14">
                  <c:v>74965</c:v>
                </c:pt>
                <c:pt idx="15">
                  <c:v>66579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B9-495F-8379-786C468EFA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4311120"/>
        <c:axId val="715883696"/>
      </c:barChart>
      <c:catAx>
        <c:axId val="474311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5883696"/>
        <c:crosses val="autoZero"/>
        <c:auto val="1"/>
        <c:lblAlgn val="ctr"/>
        <c:lblOffset val="100"/>
        <c:noMultiLvlLbl val="0"/>
      </c:catAx>
      <c:valAx>
        <c:axId val="715883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43111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 sets.xlsx]Sheet6!PivotTable5</c:name>
    <c:fmtId val="10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Sheet6!$B$3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Sheet6!$A$4:$A$16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Sheet6!$B$4:$B$16</c:f>
              <c:numCache>
                <c:formatCode>General</c:formatCode>
                <c:ptCount val="12"/>
                <c:pt idx="0">
                  <c:v>2126</c:v>
                </c:pt>
                <c:pt idx="1">
                  <c:v>1914</c:v>
                </c:pt>
                <c:pt idx="2">
                  <c:v>2012</c:v>
                </c:pt>
                <c:pt idx="3">
                  <c:v>1974</c:v>
                </c:pt>
                <c:pt idx="4">
                  <c:v>2138</c:v>
                </c:pt>
                <c:pt idx="5">
                  <c:v>2021</c:v>
                </c:pt>
                <c:pt idx="6">
                  <c:v>2070</c:v>
                </c:pt>
                <c:pt idx="7">
                  <c:v>2114</c:v>
                </c:pt>
                <c:pt idx="8">
                  <c:v>2022</c:v>
                </c:pt>
                <c:pt idx="9">
                  <c:v>2056</c:v>
                </c:pt>
                <c:pt idx="10">
                  <c:v>2034</c:v>
                </c:pt>
                <c:pt idx="11">
                  <c:v>2092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44-409A-AC9F-55D8115393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09010720"/>
        <c:axId val="709001120"/>
      </c:barChart>
      <c:catAx>
        <c:axId val="709010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9001120"/>
        <c:crosses val="autoZero"/>
        <c:auto val="1"/>
        <c:lblAlgn val="ctr"/>
        <c:lblOffset val="100"/>
        <c:noMultiLvlLbl val="0"/>
      </c:catAx>
      <c:valAx>
        <c:axId val="709001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901072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4730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6.svg"/><Relationship Id="rId9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9.jpeg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94731" y="0"/>
            <a:ext cx="1893269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CA"/>
          </a:p>
        </p:txBody>
      </p:sp>
      <p:grpSp>
        <p:nvGrpSpPr>
          <p:cNvPr id="3" name="Group 3"/>
          <p:cNvGrpSpPr/>
          <p:nvPr/>
        </p:nvGrpSpPr>
        <p:grpSpPr>
          <a:xfrm>
            <a:off x="6545735" y="406153"/>
            <a:ext cx="10042534" cy="9474693"/>
            <a:chOff x="0" y="0"/>
            <a:chExt cx="13390046" cy="12632924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0"/>
              <a:ext cx="3005065" cy="279471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3279405"/>
              <a:ext cx="3005065" cy="279471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6558809"/>
              <a:ext cx="3005065" cy="279471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9838214"/>
              <a:ext cx="3005065" cy="279471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0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3279405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6558809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9838214"/>
              <a:ext cx="3005065" cy="279471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0"/>
              <a:ext cx="3005065" cy="2794710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3279405"/>
              <a:ext cx="3005065" cy="2794710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6558809"/>
              <a:ext cx="3005065" cy="2794710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9838214"/>
              <a:ext cx="3005065" cy="2794710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1104900" y="824285"/>
            <a:ext cx="8750843" cy="8318192"/>
            <a:chOff x="0" y="0"/>
            <a:chExt cx="11667791" cy="11090922"/>
          </a:xfrm>
        </p:grpSpPr>
        <p:grpSp>
          <p:nvGrpSpPr>
            <p:cNvPr id="21" name="Group 21"/>
            <p:cNvGrpSpPr>
              <a:grpSpLocks noChangeAspect="1"/>
            </p:cNvGrpSpPr>
            <p:nvPr/>
          </p:nvGrpSpPr>
          <p:grpSpPr>
            <a:xfrm>
              <a:off x="1931835" y="1354967"/>
              <a:ext cx="9735956" cy="9735956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  <p:txBody>
              <a:bodyPr/>
              <a:lstStyle/>
              <a:p>
                <a:endParaRPr lang="en-AU" dirty="0"/>
              </a:p>
            </p:txBody>
          </p:sp>
        </p:grpSp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96140" y="376277"/>
              <a:ext cx="9735956" cy="9756713"/>
            </a:xfrm>
            <a:prstGeom prst="rect">
              <a:avLst/>
            </a:prstGeom>
          </p:spPr>
        </p:pic>
      </p:grpSp>
      <p:sp>
        <p:nvSpPr>
          <p:cNvPr id="24" name="TextBox 24"/>
          <p:cNvSpPr txBox="1"/>
          <p:nvPr/>
        </p:nvSpPr>
        <p:spPr>
          <a:xfrm>
            <a:off x="2312375" y="3305349"/>
            <a:ext cx="5482998" cy="409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59"/>
              </a:lnSpc>
            </a:pPr>
            <a:r>
              <a:rPr lang="en-US" sz="5400" spc="-105" dirty="0">
                <a:solidFill>
                  <a:schemeClr val="bg1"/>
                </a:solidFill>
                <a:latin typeface="Graphik Regular" panose="020B0503030202060203" pitchFamily="34" charset="0"/>
              </a:rPr>
              <a:t>Social Buzz </a:t>
            </a:r>
            <a:r>
              <a:rPr lang="en-CA" sz="5400" dirty="0">
                <a:solidFill>
                  <a:schemeClr val="bg1"/>
                </a:solidFill>
              </a:rPr>
              <a:t>Performance Analysis</a:t>
            </a:r>
            <a:endParaRPr lang="en-US" sz="5400" spc="-105" dirty="0">
              <a:solidFill>
                <a:schemeClr val="bg1"/>
              </a:solidFill>
              <a:latin typeface="Graphik Regular" panose="020B050303020206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21591" y="3285301"/>
            <a:ext cx="8673443" cy="3762839"/>
            <a:chOff x="0" y="0"/>
            <a:chExt cx="11564591" cy="5017118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1564591" cy="1641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9600"/>
                </a:lnSpc>
              </a:pPr>
              <a:r>
                <a:rPr lang="en-US" sz="8000" spc="-80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Today's agenda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298167"/>
              <a:ext cx="11564591" cy="27189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60"/>
                </a:lnSpc>
              </a:pPr>
              <a:r>
                <a:rPr lang="en-US" sz="19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Project recap</a:t>
              </a:r>
            </a:p>
            <a:p>
              <a:pPr>
                <a:lnSpc>
                  <a:spcPts val="2660"/>
                </a:lnSpc>
              </a:pPr>
              <a:r>
                <a:rPr lang="en-US" sz="19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Problem</a:t>
              </a:r>
            </a:p>
            <a:p>
              <a:pPr>
                <a:lnSpc>
                  <a:spcPts val="2660"/>
                </a:lnSpc>
              </a:pPr>
              <a:r>
                <a:rPr lang="en-US" sz="19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The Analytics team</a:t>
              </a:r>
            </a:p>
            <a:p>
              <a:pPr>
                <a:lnSpc>
                  <a:spcPts val="2660"/>
                </a:lnSpc>
              </a:pPr>
              <a:r>
                <a:rPr lang="en-US" sz="19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Process</a:t>
              </a:r>
            </a:p>
            <a:p>
              <a:pPr>
                <a:lnSpc>
                  <a:spcPts val="2660"/>
                </a:lnSpc>
              </a:pPr>
              <a:r>
                <a:rPr lang="en-US" sz="19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Insights</a:t>
              </a:r>
            </a:p>
            <a:p>
              <a:pPr>
                <a:lnSpc>
                  <a:spcPts val="2660"/>
                </a:lnSpc>
              </a:pPr>
              <a:r>
                <a:rPr lang="en-US" sz="19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Summary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07242" y="-1685151"/>
            <a:ext cx="3545508" cy="3370302"/>
            <a:chOff x="0" y="0"/>
            <a:chExt cx="4727344" cy="4493736"/>
          </a:xfrm>
        </p:grpSpPr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13610070" y="3458349"/>
            <a:ext cx="3545508" cy="3370302"/>
            <a:chOff x="0" y="0"/>
            <a:chExt cx="4727344" cy="4493736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11912898" y="8601849"/>
            <a:ext cx="3545508" cy="3370302"/>
            <a:chOff x="0" y="0"/>
            <a:chExt cx="4727344" cy="4493736"/>
          </a:xfrm>
        </p:grpSpPr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-927557" y="406153"/>
            <a:ext cx="2253799" cy="9474693"/>
            <a:chOff x="0" y="0"/>
            <a:chExt cx="3005065" cy="12632924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7113" y="584601"/>
            <a:ext cx="17253775" cy="9117799"/>
            <a:chOff x="0" y="0"/>
            <a:chExt cx="23005033" cy="1215706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3155875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6311751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9467626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3155875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6311751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9467626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3155875"/>
              <a:ext cx="2891870" cy="2689439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6311751"/>
              <a:ext cx="2891870" cy="2689439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9467626"/>
              <a:ext cx="2891870" cy="2689439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3155875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6311751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9467626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3155875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6311751"/>
              <a:ext cx="2891870" cy="2689439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9467626"/>
              <a:ext cx="2891870" cy="2689439"/>
            </a:xfrm>
            <a:prstGeom prst="rect">
              <a:avLst/>
            </a:prstGeom>
          </p:spPr>
        </p:pic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3155875"/>
              <a:ext cx="2891870" cy="2689439"/>
            </a:xfrm>
            <a:prstGeom prst="rect">
              <a:avLst/>
            </a:prstGeom>
          </p:spPr>
        </p:pic>
        <p:pic>
          <p:nvPicPr>
            <p:cNvPr id="25" name="Picture 2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6311751"/>
              <a:ext cx="2891870" cy="2689439"/>
            </a:xfrm>
            <a:prstGeom prst="rect">
              <a:avLst/>
            </a:prstGeom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9467626"/>
              <a:ext cx="2891870" cy="2689439"/>
            </a:xfrm>
            <a:prstGeom prst="rect">
              <a:avLst/>
            </a:prstGeom>
          </p:spPr>
        </p:pic>
        <p:pic>
          <p:nvPicPr>
            <p:cNvPr id="27" name="Picture 2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3155875"/>
              <a:ext cx="2891870" cy="2689439"/>
            </a:xfrm>
            <a:prstGeom prst="rect">
              <a:avLst/>
            </a:prstGeom>
          </p:spPr>
        </p:pic>
        <p:pic>
          <p:nvPicPr>
            <p:cNvPr id="29" name="Picture 2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6311751"/>
              <a:ext cx="2891870" cy="2689439"/>
            </a:xfrm>
            <a:prstGeom prst="rect">
              <a:avLst/>
            </a:prstGeom>
          </p:spPr>
        </p:pic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9467626"/>
              <a:ext cx="2891870" cy="2689439"/>
            </a:xfrm>
            <a:prstGeom prst="rect">
              <a:avLst/>
            </a:prstGeom>
          </p:spPr>
        </p:pic>
      </p:grpSp>
      <p:sp>
        <p:nvSpPr>
          <p:cNvPr id="31" name="AutoShape 31"/>
          <p:cNvSpPr/>
          <p:nvPr/>
        </p:nvSpPr>
        <p:spPr>
          <a:xfrm>
            <a:off x="8427113" y="2272728"/>
            <a:ext cx="8794088" cy="6925402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CA" dirty="0"/>
          </a:p>
          <a:p>
            <a:endParaRPr lang="en-CA" dirty="0"/>
          </a:p>
          <a:p>
            <a:r>
              <a:rPr lang="en-CA" sz="3600" dirty="0"/>
              <a:t>Social Buzz is a fast growing technology unicorn that need to adapt quickly to it’s global scale.</a:t>
            </a:r>
          </a:p>
          <a:p>
            <a:r>
              <a:rPr lang="en-CA" sz="3600" dirty="0"/>
              <a:t>Accenture has begun a 3 month POC focusing on these tasks: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sz="3600" dirty="0"/>
              <a:t>An audit of Social Buzz’s big data practice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sz="3600" dirty="0"/>
              <a:t>Recommendations for a successful IPO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sz="3600" dirty="0"/>
              <a:t>Analysis to find Social Buzz’s top 5 most popular categories of content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321"/>
          <a:stretch>
            <a:fillRect/>
          </a:stretch>
        </p:blipFill>
        <p:spPr>
          <a:xfrm rot="10799999">
            <a:off x="1973209" y="2226196"/>
            <a:ext cx="6453903" cy="6467663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2969013" y="3935700"/>
            <a:ext cx="4481973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Project Recap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8195696"/>
            <a:ext cx="3545508" cy="3370302"/>
            <a:chOff x="0" y="0"/>
            <a:chExt cx="4727344" cy="4493736"/>
          </a:xfrm>
        </p:grpSpPr>
        <p:grpSp>
          <p:nvGrpSpPr>
            <p:cNvPr id="3" name="Group 3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sp>
        <p:nvSpPr>
          <p:cNvPr id="6" name="AutoShape 6"/>
          <p:cNvSpPr/>
          <p:nvPr/>
        </p:nvSpPr>
        <p:spPr>
          <a:xfrm>
            <a:off x="0" y="0"/>
            <a:ext cx="9964482" cy="10287000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txBody>
          <a:bodyPr/>
          <a:lstStyle/>
          <a:p>
            <a:endParaRPr lang="en-AU" dirty="0"/>
          </a:p>
        </p:txBody>
      </p:sp>
      <p:grpSp>
        <p:nvGrpSpPr>
          <p:cNvPr id="7" name="Group 7"/>
          <p:cNvGrpSpPr/>
          <p:nvPr/>
        </p:nvGrpSpPr>
        <p:grpSpPr>
          <a:xfrm>
            <a:off x="-146279" y="406153"/>
            <a:ext cx="2253799" cy="9474693"/>
            <a:chOff x="0" y="0"/>
            <a:chExt cx="3005065" cy="12632924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1298688" y="1464558"/>
            <a:ext cx="3438614" cy="3297100"/>
            <a:chOff x="0" y="154662"/>
            <a:chExt cx="4584818" cy="4396135"/>
          </a:xfrm>
        </p:grpSpPr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656398"/>
              <a:ext cx="3894399" cy="3894399"/>
              <a:chOff x="0" y="0"/>
              <a:chExt cx="6350000" cy="63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963488"/>
              </a:solidFill>
            </p:spPr>
            <p:txBody>
              <a:bodyPr/>
              <a:lstStyle/>
              <a:p>
                <a:endParaRPr lang="en-AU" dirty="0"/>
              </a:p>
            </p:txBody>
          </p:sp>
        </p:grpSp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b="321"/>
            <a:stretch>
              <a:fillRect/>
            </a:stretch>
          </p:blipFill>
          <p:spPr>
            <a:xfrm rot="16484543">
              <a:off x="686267" y="150511"/>
              <a:ext cx="3894400" cy="3902702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15986267" y="-1061348"/>
            <a:ext cx="3545508" cy="3370302"/>
            <a:chOff x="0" y="0"/>
            <a:chExt cx="4727344" cy="4493736"/>
          </a:xfrm>
        </p:grpSpPr>
        <p:grpSp>
          <p:nvGrpSpPr>
            <p:cNvPr id="17" name="Group 17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rcRect l="24693" r="24693"/>
          <a:stretch>
            <a:fillRect/>
          </a:stretch>
        </p:blipFill>
        <p:spPr>
          <a:xfrm>
            <a:off x="11007484" y="1028700"/>
            <a:ext cx="6251816" cy="82296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3069738" y="2308953"/>
            <a:ext cx="5786869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Problem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F04925-25BB-20F9-0AC8-38F8FCEF517D}"/>
              </a:ext>
            </a:extLst>
          </p:cNvPr>
          <p:cNvSpPr txBox="1"/>
          <p:nvPr/>
        </p:nvSpPr>
        <p:spPr>
          <a:xfrm>
            <a:off x="2304845" y="5325260"/>
            <a:ext cx="706775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chemeClr val="bg1"/>
                </a:solidFill>
              </a:rPr>
              <a:t>Over </a:t>
            </a:r>
            <a:r>
              <a:rPr lang="en-CA" sz="3200" u="sng" dirty="0">
                <a:solidFill>
                  <a:schemeClr val="bg1"/>
                </a:solidFill>
              </a:rPr>
              <a:t>100000</a:t>
            </a:r>
            <a:r>
              <a:rPr lang="en-CA" sz="3200" dirty="0">
                <a:solidFill>
                  <a:schemeClr val="bg1"/>
                </a:solidFill>
              </a:rPr>
              <a:t> posts per day</a:t>
            </a:r>
          </a:p>
          <a:p>
            <a:endParaRPr lang="en-CA" sz="3200" dirty="0">
              <a:solidFill>
                <a:schemeClr val="bg1"/>
              </a:solidFill>
            </a:endParaRPr>
          </a:p>
          <a:p>
            <a:r>
              <a:rPr lang="en-CA" sz="3200" u="sng" dirty="0">
                <a:solidFill>
                  <a:schemeClr val="bg1"/>
                </a:solidFill>
              </a:rPr>
              <a:t>36,500,000</a:t>
            </a:r>
            <a:r>
              <a:rPr lang="en-CA" sz="3200" dirty="0">
                <a:solidFill>
                  <a:schemeClr val="bg1"/>
                </a:solidFill>
              </a:rPr>
              <a:t> pieces of content per year!</a:t>
            </a:r>
          </a:p>
          <a:p>
            <a:endParaRPr lang="en-CA" sz="3200" dirty="0">
              <a:solidFill>
                <a:schemeClr val="bg1"/>
              </a:solidFill>
            </a:endParaRPr>
          </a:p>
          <a:p>
            <a:endParaRPr lang="en-CA" sz="3200" dirty="0">
              <a:solidFill>
                <a:schemeClr val="bg1"/>
              </a:solidFill>
            </a:endParaRPr>
          </a:p>
          <a:p>
            <a:r>
              <a:rPr lang="en-CA" sz="2800" dirty="0">
                <a:solidFill>
                  <a:schemeClr val="bg1"/>
                </a:solidFill>
              </a:rPr>
              <a:t>But how to capitalize on it when there is so much?</a:t>
            </a:r>
          </a:p>
          <a:p>
            <a:endParaRPr lang="en-CA" sz="3200" dirty="0">
              <a:solidFill>
                <a:schemeClr val="bg1"/>
              </a:solidFill>
            </a:endParaRPr>
          </a:p>
          <a:p>
            <a:r>
              <a:rPr lang="en-CA" sz="2400" u="sng" dirty="0">
                <a:solidFill>
                  <a:schemeClr val="bg1"/>
                </a:solidFill>
              </a:rPr>
              <a:t>Analysis to find Social Buzz’s top 5 most popular categories of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6723" y="406153"/>
            <a:ext cx="9939843" cy="9474693"/>
            <a:chOff x="0" y="0"/>
            <a:chExt cx="13253124" cy="1263292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16020" y="0"/>
              <a:ext cx="3005065" cy="279471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16020" y="9838214"/>
              <a:ext cx="3005065" cy="279471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832040" y="0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832040" y="9838214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0"/>
              <a:ext cx="3005065" cy="279471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3279405"/>
              <a:ext cx="3005065" cy="2794710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6558809"/>
              <a:ext cx="3005065" cy="2794710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9838214"/>
              <a:ext cx="3005065" cy="2794710"/>
            </a:xfrm>
            <a:prstGeom prst="rect">
              <a:avLst/>
            </a:prstGeom>
          </p:spPr>
        </p:pic>
      </p:grpSp>
      <p:sp>
        <p:nvSpPr>
          <p:cNvPr id="15" name="AutoShape 15"/>
          <p:cNvSpPr/>
          <p:nvPr/>
        </p:nvSpPr>
        <p:spPr>
          <a:xfrm>
            <a:off x="2110745" y="1825527"/>
            <a:ext cx="6750815" cy="663594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CA"/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1825797" y="1270731"/>
            <a:ext cx="2085137" cy="2085137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1419219" y="1028700"/>
            <a:ext cx="2174041" cy="2165548"/>
            <a:chOff x="0" y="0"/>
            <a:chExt cx="6502400" cy="6477000"/>
          </a:xfrm>
        </p:grpSpPr>
        <p:sp>
          <p:nvSpPr>
            <p:cNvPr id="19" name="Freeform 19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5"/>
              <a:stretch>
                <a:fillRect l="-136837" t="-28774" r="-84967" b="-86469"/>
              </a:stretch>
            </a:blipFill>
            <a:ln>
              <a:solidFill>
                <a:srgbClr val="00BAFF"/>
              </a:solidFill>
            </a:ln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2E44D8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1825797" y="4221947"/>
            <a:ext cx="2085137" cy="2085137"/>
            <a:chOff x="0" y="0"/>
            <a:chExt cx="6350000" cy="635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</p:spPr>
          <p:txBody>
            <a:bodyPr/>
            <a:lstStyle/>
            <a:p>
              <a:endParaRPr lang="en-AU" dirty="0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1411515" y="4002073"/>
            <a:ext cx="2187334" cy="2123082"/>
            <a:chOff x="-23042" y="66269"/>
            <a:chExt cx="6542158" cy="6349987"/>
          </a:xfrm>
        </p:grpSpPr>
        <p:sp>
          <p:nvSpPr>
            <p:cNvPr id="24" name="Freeform 24"/>
            <p:cNvSpPr/>
            <p:nvPr/>
          </p:nvSpPr>
          <p:spPr>
            <a:xfrm>
              <a:off x="-23042" y="119185"/>
              <a:ext cx="6542158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6"/>
              <a:stretch>
                <a:fillRect l="-162891" t="-16684" r="-160683" b="-166629"/>
              </a:stretch>
            </a:blipFill>
            <a:ln>
              <a:solidFill>
                <a:srgbClr val="00BAFF"/>
              </a:solidFill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2E44D8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11825797" y="7173163"/>
            <a:ext cx="2085137" cy="2085137"/>
            <a:chOff x="0" y="0"/>
            <a:chExt cx="6350000" cy="6350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</p:spPr>
          <p:txBody>
            <a:bodyPr/>
            <a:lstStyle/>
            <a:p>
              <a:endParaRPr lang="en-AU" dirty="0"/>
            </a:p>
          </p:txBody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11419219" y="6931132"/>
            <a:ext cx="2174041" cy="2165548"/>
            <a:chOff x="0" y="0"/>
            <a:chExt cx="6502400" cy="6477000"/>
          </a:xfrm>
        </p:grpSpPr>
        <p:sp>
          <p:nvSpPr>
            <p:cNvPr id="29" name="Freeform 29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7"/>
              <a:stretch>
                <a:fillRect l="-164266" t="1917" r="-22903" b="-93994"/>
              </a:stretch>
            </a:blipFill>
            <a:ln>
              <a:solidFill>
                <a:srgbClr val="00BAFF"/>
              </a:solidFill>
            </a:ln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2E44D8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670508" y="3331799"/>
            <a:ext cx="5612273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spc="-80" dirty="0">
                <a:solidFill>
                  <a:srgbClr val="000000"/>
                </a:solidFill>
                <a:latin typeface="Graphik Regular" panose="020B0503030202060203" pitchFamily="34" charset="0"/>
              </a:rPr>
              <a:t>The Analytics team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5A7848-F86A-9ED9-E06C-C49C11D6588D}"/>
              </a:ext>
            </a:extLst>
          </p:cNvPr>
          <p:cNvSpPr txBox="1"/>
          <p:nvPr/>
        </p:nvSpPr>
        <p:spPr>
          <a:xfrm>
            <a:off x="13981007" y="7421293"/>
            <a:ext cx="3240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dirty="0"/>
              <a:t>Eseosa Iyobosa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2DB11C-C43E-D4F5-FF87-20BF38308E4D}"/>
              </a:ext>
            </a:extLst>
          </p:cNvPr>
          <p:cNvSpPr txBox="1"/>
          <p:nvPr/>
        </p:nvSpPr>
        <p:spPr>
          <a:xfrm>
            <a:off x="14563797" y="7984898"/>
            <a:ext cx="2851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Data Analyst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09DB41-1B92-0227-F5A6-E1DD7E8F62F0}"/>
              </a:ext>
            </a:extLst>
          </p:cNvPr>
          <p:cNvSpPr txBox="1"/>
          <p:nvPr/>
        </p:nvSpPr>
        <p:spPr>
          <a:xfrm>
            <a:off x="13981007" y="1505902"/>
            <a:ext cx="3800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i="0" dirty="0">
                <a:solidFill>
                  <a:srgbClr val="000000"/>
                </a:solidFill>
                <a:effectLst/>
              </a:rPr>
              <a:t>Andrew Fleming</a:t>
            </a:r>
            <a:endParaRPr lang="en-CA" sz="36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D279D4-E807-F1BE-5E88-DFABE44FE43C}"/>
              </a:ext>
            </a:extLst>
          </p:cNvPr>
          <p:cNvSpPr txBox="1"/>
          <p:nvPr/>
        </p:nvSpPr>
        <p:spPr>
          <a:xfrm>
            <a:off x="14134720" y="2144886"/>
            <a:ext cx="34881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0" i="0" dirty="0">
                <a:solidFill>
                  <a:srgbClr val="000000"/>
                </a:solidFill>
                <a:effectLst/>
                <a:latin typeface="DM Sans" pitchFamily="2" charset="0"/>
              </a:rPr>
              <a:t>Chief Technical Architect</a:t>
            </a:r>
            <a:endParaRPr lang="en-CA"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BD5B6F-180B-B882-D52B-CD504B2A11F4}"/>
              </a:ext>
            </a:extLst>
          </p:cNvPr>
          <p:cNvSpPr txBox="1"/>
          <p:nvPr/>
        </p:nvSpPr>
        <p:spPr>
          <a:xfrm>
            <a:off x="13981007" y="4686300"/>
            <a:ext cx="3660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i="0" dirty="0">
                <a:solidFill>
                  <a:srgbClr val="000000"/>
                </a:solidFill>
                <a:effectLst/>
              </a:rPr>
              <a:t>Marcus </a:t>
            </a:r>
            <a:r>
              <a:rPr lang="en-CA" sz="3600" b="1" i="0" dirty="0" err="1">
                <a:solidFill>
                  <a:srgbClr val="000000"/>
                </a:solidFill>
                <a:effectLst/>
              </a:rPr>
              <a:t>Rompton</a:t>
            </a:r>
            <a:endParaRPr lang="en-CA" sz="36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BE9C0C-A3AF-A9B0-CAC0-8FFE880F0B9B}"/>
              </a:ext>
            </a:extLst>
          </p:cNvPr>
          <p:cNvSpPr txBox="1"/>
          <p:nvPr/>
        </p:nvSpPr>
        <p:spPr>
          <a:xfrm>
            <a:off x="14169692" y="5436154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0" i="0" dirty="0">
                <a:solidFill>
                  <a:srgbClr val="000000"/>
                </a:solidFill>
                <a:effectLst/>
                <a:latin typeface="DM Sans" pitchFamily="2" charset="0"/>
              </a:rPr>
              <a:t>Senior Principle</a:t>
            </a:r>
            <a:endParaRPr lang="en-CA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5296" y="406153"/>
            <a:ext cx="10042534" cy="9474693"/>
            <a:chOff x="0" y="0"/>
            <a:chExt cx="13390046" cy="1263292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10232"/>
            <a:stretch>
              <a:fillRect/>
            </a:stretch>
          </p:blipFill>
          <p:spPr>
            <a:xfrm>
              <a:off x="6923321" y="6558809"/>
              <a:ext cx="2697587" cy="279471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9838214"/>
              <a:ext cx="3005065" cy="279471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3279405"/>
              <a:ext cx="3005065" cy="279471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6558809"/>
              <a:ext cx="3005065" cy="279471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9838214"/>
              <a:ext cx="3005065" cy="279471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9838214"/>
              <a:ext cx="3005065" cy="279471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2199263" y="975189"/>
            <a:ext cx="1559491" cy="1528295"/>
            <a:chOff x="0" y="337271"/>
            <a:chExt cx="2079321" cy="2037726"/>
          </a:xfrm>
        </p:grpSpPr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16484543">
              <a:off x="44723" y="335104"/>
              <a:ext cx="2032432" cy="2036765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3758754" y="2639980"/>
            <a:ext cx="1854962" cy="1781248"/>
            <a:chOff x="0" y="0"/>
            <a:chExt cx="2473282" cy="2374997"/>
          </a:xfrm>
        </p:grpSpPr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grpSp>
        <p:nvGrpSpPr>
          <p:cNvPr id="21" name="Group 21"/>
          <p:cNvGrpSpPr/>
          <p:nvPr/>
        </p:nvGrpSpPr>
        <p:grpSpPr>
          <a:xfrm>
            <a:off x="5614117" y="4252068"/>
            <a:ext cx="1854962" cy="1781248"/>
            <a:chOff x="0" y="0"/>
            <a:chExt cx="2473282" cy="2374997"/>
          </a:xfrm>
        </p:grpSpPr>
        <p:grpSp>
          <p:nvGrpSpPr>
            <p:cNvPr id="22" name="Group 22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grpSp>
        <p:nvGrpSpPr>
          <p:cNvPr id="25" name="Group 25"/>
          <p:cNvGrpSpPr/>
          <p:nvPr/>
        </p:nvGrpSpPr>
        <p:grpSpPr>
          <a:xfrm>
            <a:off x="7469480" y="5864156"/>
            <a:ext cx="1854962" cy="1781248"/>
            <a:chOff x="0" y="0"/>
            <a:chExt cx="2473282" cy="2374997"/>
          </a:xfrm>
        </p:grpSpPr>
        <p:grpSp>
          <p:nvGrpSpPr>
            <p:cNvPr id="26" name="Group 26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grpSp>
        <p:nvGrpSpPr>
          <p:cNvPr id="29" name="Group 29"/>
          <p:cNvGrpSpPr/>
          <p:nvPr/>
        </p:nvGrpSpPr>
        <p:grpSpPr>
          <a:xfrm>
            <a:off x="9324843" y="7476244"/>
            <a:ext cx="1854962" cy="1781248"/>
            <a:chOff x="0" y="0"/>
            <a:chExt cx="2473282" cy="2374997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sp>
        <p:nvSpPr>
          <p:cNvPr id="33" name="TextBox 33"/>
          <p:cNvSpPr txBox="1"/>
          <p:nvPr/>
        </p:nvSpPr>
        <p:spPr>
          <a:xfrm>
            <a:off x="10667818" y="1028700"/>
            <a:ext cx="6642545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Process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630944" y="1372359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 dirty="0">
                <a:solidFill>
                  <a:srgbClr val="FFFFFF"/>
                </a:solidFill>
                <a:latin typeface="Clear Sans Regular Bold"/>
              </a:rPr>
              <a:t>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34646" y="2984043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 dirty="0">
                <a:solidFill>
                  <a:srgbClr val="FFFFFF"/>
                </a:solidFill>
                <a:latin typeface="Clear Sans Regular Bold"/>
              </a:rPr>
              <a:t>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108223" y="7828620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>
                <a:solidFill>
                  <a:srgbClr val="FFFFFF"/>
                </a:solidFill>
                <a:latin typeface="Clear Sans Regular Bold"/>
              </a:rPr>
              <a:t>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193880" y="6204766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 dirty="0">
                <a:solidFill>
                  <a:srgbClr val="FFFFFF"/>
                </a:solidFill>
                <a:latin typeface="Clear Sans Regular Bold"/>
              </a:rPr>
              <a:t>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396750" y="4605252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 dirty="0">
                <a:solidFill>
                  <a:srgbClr val="FFFFFF"/>
                </a:solidFill>
                <a:latin typeface="Clear Sans Regular Bold"/>
              </a:rPr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3A9C23-3E5B-4510-1C4B-EC5063F51C48}"/>
              </a:ext>
            </a:extLst>
          </p:cNvPr>
          <p:cNvSpPr txBox="1"/>
          <p:nvPr/>
        </p:nvSpPr>
        <p:spPr>
          <a:xfrm>
            <a:off x="4250833" y="1399079"/>
            <a:ext cx="3923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chemeClr val="bg1"/>
                </a:solidFill>
              </a:rPr>
              <a:t>Data Understanding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F2123D-E16B-DBDB-4042-5DFDB11E03EA}"/>
              </a:ext>
            </a:extLst>
          </p:cNvPr>
          <p:cNvSpPr txBox="1"/>
          <p:nvPr/>
        </p:nvSpPr>
        <p:spPr>
          <a:xfrm>
            <a:off x="5918012" y="3090035"/>
            <a:ext cx="6350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chemeClr val="bg1"/>
                </a:solidFill>
              </a:rPr>
              <a:t> Data Cleaning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EC2DC6-538C-B88E-DA84-83C83864565F}"/>
              </a:ext>
            </a:extLst>
          </p:cNvPr>
          <p:cNvSpPr txBox="1"/>
          <p:nvPr/>
        </p:nvSpPr>
        <p:spPr>
          <a:xfrm>
            <a:off x="7891585" y="4669352"/>
            <a:ext cx="43224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chemeClr val="bg1"/>
                </a:solidFill>
              </a:rPr>
              <a:t>Data Modelling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173EBA-FA5E-3F87-1452-88E2B8754942}"/>
              </a:ext>
            </a:extLst>
          </p:cNvPr>
          <p:cNvSpPr txBox="1"/>
          <p:nvPr/>
        </p:nvSpPr>
        <p:spPr>
          <a:xfrm>
            <a:off x="9677400" y="6033316"/>
            <a:ext cx="335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chemeClr val="bg1"/>
                </a:solidFill>
              </a:rPr>
              <a:t>Data Analysis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7B77ED-6148-C506-6746-424FC1ED2D98}"/>
              </a:ext>
            </a:extLst>
          </p:cNvPr>
          <p:cNvSpPr txBox="1"/>
          <p:nvPr/>
        </p:nvSpPr>
        <p:spPr>
          <a:xfrm>
            <a:off x="11337710" y="7828620"/>
            <a:ext cx="37498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chemeClr val="bg1"/>
                </a:solidFill>
              </a:rPr>
              <a:t>Uncover Insight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2127159" y="6480806"/>
            <a:ext cx="2972219" cy="881758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860915"/>
            <a:ext cx="4636129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spc="-80" dirty="0">
                <a:solidFill>
                  <a:srgbClr val="000000"/>
                </a:solidFill>
                <a:latin typeface="Graphik Regular" panose="020B0503030202060203" pitchFamily="34" charset="0"/>
              </a:rPr>
              <a:t>Insights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17112" y="7810500"/>
            <a:ext cx="17253775" cy="2017079"/>
            <a:chOff x="0" y="0"/>
            <a:chExt cx="23005033" cy="2689439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7272183" y="6480309"/>
            <a:ext cx="2972219" cy="881758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2670342" y="6480309"/>
            <a:ext cx="2972219" cy="8817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456B2E9-EA15-9FCA-E7A4-E0FDB6604D6E}"/>
              </a:ext>
            </a:extLst>
          </p:cNvPr>
          <p:cNvSpPr txBox="1"/>
          <p:nvPr/>
        </p:nvSpPr>
        <p:spPr>
          <a:xfrm>
            <a:off x="1028700" y="2282700"/>
            <a:ext cx="16742187" cy="4613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/>
              <a:t>Unique Categories:</a:t>
            </a:r>
            <a:r>
              <a:rPr lang="en-US" sz="4000" dirty="0"/>
              <a:t> The dataset reveals a diverse range of content themes.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/>
              <a:t>Most Popular Category:</a:t>
            </a:r>
            <a:r>
              <a:rPr lang="en-US" sz="4000" dirty="0"/>
              <a:t> One category stands out with the highest engagement.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/>
              <a:t>Peak Month:</a:t>
            </a:r>
            <a:r>
              <a:rPr lang="en-US" sz="4000" dirty="0"/>
              <a:t> A specific month recorded the most posts, indicating peak activity.</a:t>
            </a:r>
          </a:p>
          <a:p>
            <a:pPr>
              <a:lnSpc>
                <a:spcPct val="150000"/>
              </a:lnSpc>
            </a:pPr>
            <a:endParaRPr lang="en-CA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5213" y="9490985"/>
            <a:ext cx="17253775" cy="2017079"/>
            <a:chOff x="0" y="0"/>
            <a:chExt cx="23005033" cy="268943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1153642">
            <a:off x="979455" y="8814373"/>
            <a:ext cx="3545508" cy="3370302"/>
            <a:chOff x="0" y="0"/>
            <a:chExt cx="4727344" cy="4493736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655751" y="-710238"/>
            <a:ext cx="17253775" cy="2017079"/>
            <a:chOff x="0" y="0"/>
            <a:chExt cx="23005033" cy="2689439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sp>
        <p:nvSpPr>
          <p:cNvPr id="22" name="AutoShape 22"/>
          <p:cNvSpPr/>
          <p:nvPr/>
        </p:nvSpPr>
        <p:spPr>
          <a:xfrm>
            <a:off x="0" y="0"/>
            <a:ext cx="2386482" cy="10287000"/>
          </a:xfrm>
          <a:prstGeom prst="rect">
            <a:avLst/>
          </a:prstGeom>
          <a:solidFill>
            <a:srgbClr val="A100FF"/>
          </a:solidFill>
        </p:spPr>
        <p:txBody>
          <a:bodyPr/>
          <a:lstStyle/>
          <a:p>
            <a:endParaRPr lang="en-CA"/>
          </a:p>
        </p:txBody>
      </p:sp>
      <p:grpSp>
        <p:nvGrpSpPr>
          <p:cNvPr id="23" name="Group 23"/>
          <p:cNvGrpSpPr/>
          <p:nvPr/>
        </p:nvGrpSpPr>
        <p:grpSpPr>
          <a:xfrm>
            <a:off x="16515246" y="-1685151"/>
            <a:ext cx="3545508" cy="3370302"/>
            <a:chOff x="0" y="0"/>
            <a:chExt cx="4727344" cy="4493736"/>
          </a:xfrm>
        </p:grpSpPr>
        <p:grpSp>
          <p:nvGrpSpPr>
            <p:cNvPr id="24" name="Group 24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22E7903-1A57-BA15-3C04-20749E474E23}"/>
              </a:ext>
            </a:extLst>
          </p:cNvPr>
          <p:cNvSpPr txBox="1"/>
          <p:nvPr/>
        </p:nvSpPr>
        <p:spPr>
          <a:xfrm>
            <a:off x="2573769" y="1375864"/>
            <a:ext cx="10915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Unique Categories and Most Popular Category</a:t>
            </a:r>
            <a:endParaRPr lang="en-CA" sz="3200" dirty="0"/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33B36813-5988-4A10-FEC2-C26FB57006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3079052"/>
              </p:ext>
            </p:extLst>
          </p:nvPr>
        </p:nvGraphicFramePr>
        <p:xfrm>
          <a:off x="2824654" y="2023500"/>
          <a:ext cx="14173645" cy="51346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CE6F0B96-7514-236F-3173-DC6737234D12}"/>
              </a:ext>
            </a:extLst>
          </p:cNvPr>
          <p:cNvSpPr txBox="1"/>
          <p:nvPr/>
        </p:nvSpPr>
        <p:spPr>
          <a:xfrm>
            <a:off x="3621394" y="7189334"/>
            <a:ext cx="1382840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From the chart, there are 16 unique categories (each bar represents a category).</a:t>
            </a:r>
          </a:p>
          <a:p>
            <a:r>
              <a:rPr lang="en-US" sz="3200" dirty="0"/>
              <a:t>The most popular category is the one with the highest total score:</a:t>
            </a:r>
          </a:p>
          <a:p>
            <a:r>
              <a:rPr lang="en-US" sz="3200" dirty="0"/>
              <a:t>From the chart, Animals seems to have the highest bar, with a total score around 75,000 reactions.</a:t>
            </a:r>
          </a:p>
          <a:p>
            <a:endParaRPr lang="en-CA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5213" y="9490985"/>
            <a:ext cx="17253775" cy="2017079"/>
            <a:chOff x="0" y="0"/>
            <a:chExt cx="23005033" cy="268943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1153642">
            <a:off x="979455" y="8814373"/>
            <a:ext cx="3545508" cy="3370302"/>
            <a:chOff x="0" y="0"/>
            <a:chExt cx="4727344" cy="4493736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655752" y="-1235382"/>
            <a:ext cx="17253775" cy="2017079"/>
            <a:chOff x="0" y="0"/>
            <a:chExt cx="23005033" cy="2689439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sp>
        <p:nvSpPr>
          <p:cNvPr id="22" name="AutoShape 22"/>
          <p:cNvSpPr/>
          <p:nvPr/>
        </p:nvSpPr>
        <p:spPr>
          <a:xfrm>
            <a:off x="0" y="0"/>
            <a:ext cx="2386482" cy="10287000"/>
          </a:xfrm>
          <a:prstGeom prst="rect">
            <a:avLst/>
          </a:prstGeom>
          <a:solidFill>
            <a:srgbClr val="A100FF"/>
          </a:solidFill>
        </p:spPr>
        <p:txBody>
          <a:bodyPr/>
          <a:lstStyle/>
          <a:p>
            <a:endParaRPr lang="en-CA"/>
          </a:p>
        </p:txBody>
      </p:sp>
      <p:grpSp>
        <p:nvGrpSpPr>
          <p:cNvPr id="23" name="Group 23"/>
          <p:cNvGrpSpPr/>
          <p:nvPr/>
        </p:nvGrpSpPr>
        <p:grpSpPr>
          <a:xfrm>
            <a:off x="16515246" y="-1685151"/>
            <a:ext cx="3545508" cy="3370302"/>
            <a:chOff x="0" y="0"/>
            <a:chExt cx="4727344" cy="4493736"/>
          </a:xfrm>
        </p:grpSpPr>
        <p:grpSp>
          <p:nvGrpSpPr>
            <p:cNvPr id="24" name="Group 24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AA3F573-8294-3E59-7018-1989CDDC8472}"/>
              </a:ext>
            </a:extLst>
          </p:cNvPr>
          <p:cNvSpPr txBox="1"/>
          <p:nvPr/>
        </p:nvSpPr>
        <p:spPr>
          <a:xfrm>
            <a:off x="2900523" y="1112608"/>
            <a:ext cx="998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Peak Month</a:t>
            </a:r>
            <a:endParaRPr lang="en-CA" sz="3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636B5BE-53B0-945F-3662-D58A83BEC3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0523" y="1797614"/>
            <a:ext cx="5710077" cy="5360547"/>
          </a:xfrm>
          <a:prstGeom prst="rect">
            <a:avLst/>
          </a:prstGeom>
        </p:spPr>
      </p:pic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8C896BFE-A3E2-C707-F875-1EBCB89AF9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7334025"/>
              </p:ext>
            </p:extLst>
          </p:nvPr>
        </p:nvGraphicFramePr>
        <p:xfrm>
          <a:off x="8610600" y="1697383"/>
          <a:ext cx="8534400" cy="54607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B91D44F3-30F6-2AC2-439E-9AEA45A848CC}"/>
              </a:ext>
            </a:extLst>
          </p:cNvPr>
          <p:cNvSpPr txBox="1"/>
          <p:nvPr/>
        </p:nvSpPr>
        <p:spPr>
          <a:xfrm>
            <a:off x="2900523" y="7286054"/>
            <a:ext cx="14160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May had the highest number of posts, with 2,138 posts, indicating a peak in content creation. </a:t>
            </a:r>
            <a:endParaRPr lang="en-CA" sz="2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A397E5-3770-2EB1-8ADA-784803BE1053}"/>
              </a:ext>
            </a:extLst>
          </p:cNvPr>
          <p:cNvSpPr txBox="1"/>
          <p:nvPr/>
        </p:nvSpPr>
        <p:spPr>
          <a:xfrm>
            <a:off x="2900523" y="7809274"/>
            <a:ext cx="134062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May's peak posting period presents an opportunity to optimize future content strategies during high engagement months.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453851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400000">
            <a:off x="10143618" y="5003701"/>
            <a:ext cx="942466" cy="279598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400000">
            <a:off x="10143618" y="2227332"/>
            <a:ext cx="942466" cy="279598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400000">
            <a:off x="10143618" y="7780070"/>
            <a:ext cx="942466" cy="279598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 l="4069" t="1617" r="4069" b="1617"/>
          <a:stretch>
            <a:fillRect/>
          </a:stretch>
        </p:blipFill>
        <p:spPr>
          <a:xfrm>
            <a:off x="5438298" y="1161805"/>
            <a:ext cx="5036754" cy="796339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57200" y="4539600"/>
            <a:ext cx="4703553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spc="-80" dirty="0">
                <a:solidFill>
                  <a:srgbClr val="000000"/>
                </a:solidFill>
                <a:latin typeface="Graphik Regular" panose="020B0503030202060203" pitchFamily="34" charset="0"/>
              </a:rPr>
              <a:t>Summary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27032" y="9481425"/>
            <a:ext cx="9711338" cy="2017079"/>
            <a:chOff x="0" y="0"/>
            <a:chExt cx="12948451" cy="2689439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327032" y="-1179605"/>
            <a:ext cx="9711338" cy="2017079"/>
            <a:chOff x="0" y="0"/>
            <a:chExt cx="12948451" cy="2689439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sp>
        <p:nvSpPr>
          <p:cNvPr id="22" name="TextBox 13">
            <a:extLst>
              <a:ext uri="{FF2B5EF4-FFF2-40B4-BE49-F238E27FC236}">
                <a16:creationId xmlns:a16="http://schemas.microsoft.com/office/drawing/2014/main" id="{3DAE5247-0244-4123-A713-8D8809E80C70}"/>
              </a:ext>
            </a:extLst>
          </p:cNvPr>
          <p:cNvSpPr txBox="1"/>
          <p:nvPr/>
        </p:nvSpPr>
        <p:spPr>
          <a:xfrm>
            <a:off x="11309162" y="2279621"/>
            <a:ext cx="4845805" cy="1117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Unique Categories: The dataset includes a diverse range of 16 unique categories.</a:t>
            </a:r>
            <a:endParaRPr lang="en-US" sz="2800" spc="-21" dirty="0">
              <a:solidFill>
                <a:srgbClr val="000000"/>
              </a:solidFill>
              <a:latin typeface="Graphik Regular" panose="020B0503030202060203" pitchFamily="34" charset="0"/>
            </a:endParaRPr>
          </a:p>
        </p:txBody>
      </p:sp>
      <p:grpSp>
        <p:nvGrpSpPr>
          <p:cNvPr id="23" name="Group 14">
            <a:extLst>
              <a:ext uri="{FF2B5EF4-FFF2-40B4-BE49-F238E27FC236}">
                <a16:creationId xmlns:a16="http://schemas.microsoft.com/office/drawing/2014/main" id="{F49CBA38-C879-499F-B0F5-691188949921}"/>
              </a:ext>
            </a:extLst>
          </p:cNvPr>
          <p:cNvGrpSpPr/>
          <p:nvPr/>
        </p:nvGrpSpPr>
        <p:grpSpPr>
          <a:xfrm>
            <a:off x="11588760" y="6964869"/>
            <a:ext cx="5677467" cy="867617"/>
            <a:chOff x="0" y="-47625"/>
            <a:chExt cx="7569956" cy="1156823"/>
          </a:xfrm>
        </p:grpSpPr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3A90234A-916B-4C29-ACF1-11F97E8C2563}"/>
                </a:ext>
              </a:extLst>
            </p:cNvPr>
            <p:cNvSpPr txBox="1"/>
            <p:nvPr/>
          </p:nvSpPr>
          <p:spPr>
            <a:xfrm>
              <a:off x="0" y="691990"/>
              <a:ext cx="7569956" cy="417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60"/>
                </a:lnSpc>
              </a:pPr>
              <a:endParaRPr lang="en-US" sz="1900" spc="-19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E1CF9388-A25B-45EF-AAD4-73FE2BA72053}"/>
                </a:ext>
              </a:extLst>
            </p:cNvPr>
            <p:cNvSpPr txBox="1"/>
            <p:nvPr/>
          </p:nvSpPr>
          <p:spPr>
            <a:xfrm>
              <a:off x="0" y="-47625"/>
              <a:ext cx="7569956" cy="451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</a:pPr>
              <a:endParaRPr lang="en-US" sz="2100" spc="-21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</p:txBody>
        </p:sp>
      </p:grpSp>
      <p:sp>
        <p:nvSpPr>
          <p:cNvPr id="17" name="TextBox 12">
            <a:extLst>
              <a:ext uri="{FF2B5EF4-FFF2-40B4-BE49-F238E27FC236}">
                <a16:creationId xmlns:a16="http://schemas.microsoft.com/office/drawing/2014/main" id="{19A1BE45-8301-44C6-A0D0-F8FDA800622F}"/>
              </a:ext>
            </a:extLst>
          </p:cNvPr>
          <p:cNvSpPr txBox="1"/>
          <p:nvPr/>
        </p:nvSpPr>
        <p:spPr>
          <a:xfrm>
            <a:off x="10972800" y="1804774"/>
            <a:ext cx="6286500" cy="108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60"/>
              </a:lnSpc>
            </a:pPr>
            <a:endParaRPr lang="en-US" sz="1900" spc="-19" dirty="0">
              <a:solidFill>
                <a:srgbClr val="000000"/>
              </a:solidFill>
              <a:latin typeface="Graphik Regular" panose="020B050303020206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1BE27E-E5CE-705A-5BB3-51388E93C6E4}"/>
              </a:ext>
            </a:extLst>
          </p:cNvPr>
          <p:cNvSpPr txBox="1"/>
          <p:nvPr/>
        </p:nvSpPr>
        <p:spPr>
          <a:xfrm>
            <a:off x="11277600" y="3706388"/>
            <a:ext cx="487736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Most Popular Category: The category with the highest engagement is Animals, with approximately 75,000 reactions.</a:t>
            </a:r>
            <a:endParaRPr lang="en-CA" sz="2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E97818-B258-692B-9358-574F513CFB5B}"/>
              </a:ext>
            </a:extLst>
          </p:cNvPr>
          <p:cNvSpPr txBox="1"/>
          <p:nvPr/>
        </p:nvSpPr>
        <p:spPr>
          <a:xfrm>
            <a:off x="11309162" y="6180752"/>
            <a:ext cx="484580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Month with the Most Posts: May recorded the highest content activity, with 2,138 posts.</a:t>
            </a:r>
            <a:endParaRPr lang="en-CA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21913" y="5552246"/>
            <a:ext cx="5385738" cy="412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600" spc="-26" dirty="0">
                <a:solidFill>
                  <a:srgbClr val="FFFFFF"/>
                </a:solidFill>
                <a:latin typeface="Graphik Regular" panose="020B0503030202060203" pitchFamily="34" charset="0"/>
              </a:rPr>
              <a:t>ANY QUESTIONS?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28428" y="3599225"/>
            <a:ext cx="3546595" cy="3371248"/>
            <a:chOff x="0" y="0"/>
            <a:chExt cx="4728794" cy="4494997"/>
          </a:xfrm>
        </p:grpSpPr>
        <p:grpSp>
          <p:nvGrpSpPr>
            <p:cNvPr id="4" name="Group 4"/>
            <p:cNvGrpSpPr>
              <a:grpSpLocks noChangeAspect="1"/>
            </p:cNvGrpSpPr>
            <p:nvPr/>
          </p:nvGrpSpPr>
          <p:grpSpPr>
            <a:xfrm>
              <a:off x="782946" y="549149"/>
              <a:ext cx="3945848" cy="3945848"/>
              <a:chOff x="0" y="0"/>
              <a:chExt cx="6350000" cy="6350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n-CA"/>
              </a:p>
            </p:txBody>
          </p:sp>
        </p:grp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160550" y="152500"/>
              <a:ext cx="3945848" cy="3954260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4669076" y="4178375"/>
            <a:ext cx="5729829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Thank you!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17113" y="-1140306"/>
            <a:ext cx="17253775" cy="2017079"/>
            <a:chOff x="0" y="0"/>
            <a:chExt cx="23005033" cy="2689439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517113" y="9394369"/>
            <a:ext cx="17253775" cy="2017079"/>
            <a:chOff x="0" y="0"/>
            <a:chExt cx="23005033" cy="2689439"/>
          </a:xfrm>
        </p:grpSpPr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360</Words>
  <Application>Microsoft Office PowerPoint</Application>
  <PresentationFormat>Custom</PresentationFormat>
  <Paragraphs>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Clear Sans Regular Bold</vt:lpstr>
      <vt:lpstr>Calibri</vt:lpstr>
      <vt:lpstr>DM Sans</vt:lpstr>
      <vt:lpstr>Graphik Regular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creator>Kevin Dang</dc:creator>
  <cp:lastModifiedBy>danz Daniel</cp:lastModifiedBy>
  <cp:revision>9</cp:revision>
  <dcterms:created xsi:type="dcterms:W3CDTF">2006-08-16T00:00:00Z</dcterms:created>
  <dcterms:modified xsi:type="dcterms:W3CDTF">2025-01-07T23:31:36Z</dcterms:modified>
  <dc:identifier>DAEhDyfaYKE</dc:identifier>
</cp:coreProperties>
</file>